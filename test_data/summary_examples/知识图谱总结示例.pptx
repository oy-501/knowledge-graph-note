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4F6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7CB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10332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4400" b="1">
                <a:solidFill>
                  <a:srgbClr val="3D5A75"/>
                </a:solidFill>
                <a:latin typeface="微软雅黑"/>
              </a:rPr>
              <a:t>知识图谱总结示例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329184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5E7286"/>
                </a:solidFill>
                <a:latin typeface="微软雅黑"/>
              </a:rPr>
              <a:t>知识点 36 · 关联 428 · 文件 5 · 知识簇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3794760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5E7286"/>
                </a:solidFill>
                <a:latin typeface="微软雅黑"/>
              </a:rPr>
              <a:t>生成时间 2026-09-25T13:31:06　|　知识库锚定 27 个概念、桥接 67 条知识通路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4480560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D4A574"/>
                </a:solidFill>
                <a:latin typeface="微软雅黑"/>
              </a:rPr>
              <a:t>本页内容由知识图谱自动总结，随图谱实时生成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6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3D5A75"/>
                </a:solidFill>
                <a:latin typeface="微软雅黑"/>
              </a:rPr>
              <a:t>总览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96112"/>
            <a:ext cx="111556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E7286"/>
                </a:solidFill>
                <a:latin typeface="微软雅黑"/>
              </a:rPr>
              <a:t>图谱规模与结构健康度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1737360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F5F0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27632"/>
            <a:ext cx="1554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1">
                <a:solidFill>
                  <a:srgbClr val="4F6F8F"/>
                </a:solidFill>
                <a:latin typeface="微软雅黑"/>
              </a:rPr>
              <a:t>36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67712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5E7286"/>
                </a:solidFill>
                <a:latin typeface="微软雅黑"/>
              </a:rPr>
              <a:t>知识点（个）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32304" y="1463040"/>
            <a:ext cx="1737360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F5F0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23744" y="1627632"/>
            <a:ext cx="1554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1">
                <a:solidFill>
                  <a:srgbClr val="4F6F8F"/>
                </a:solidFill>
                <a:latin typeface="微软雅黑"/>
              </a:rPr>
              <a:t>428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23744" y="2267712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5E7286"/>
                </a:solidFill>
                <a:latin typeface="微软雅黑"/>
              </a:rPr>
              <a:t>关联连线（条）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15968" y="1463040"/>
            <a:ext cx="1737360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F5F0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07407" y="1627632"/>
            <a:ext cx="1554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1">
                <a:solidFill>
                  <a:srgbClr val="4F6F8F"/>
                </a:solidFill>
                <a:latin typeface="微软雅黑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07407" y="2267712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5E7286"/>
                </a:solidFill>
                <a:latin typeface="微软雅黑"/>
              </a:rPr>
              <a:t>来源文件（个）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1" y="1463040"/>
            <a:ext cx="1737360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F5F0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91071" y="1627632"/>
            <a:ext cx="1554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1">
                <a:solidFill>
                  <a:srgbClr val="4F6F8F"/>
                </a:solidFill>
                <a:latin typeface="微软雅黑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91071" y="2267712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5E7286"/>
                </a:solidFill>
                <a:latin typeface="微软雅黑"/>
              </a:rPr>
              <a:t>领域（个）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83296" y="1463040"/>
            <a:ext cx="1737360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F5F0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74736" y="1627632"/>
            <a:ext cx="1554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1">
                <a:solidFill>
                  <a:srgbClr val="4F6F8F"/>
                </a:solidFill>
                <a:latin typeface="微软雅黑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74736" y="2267712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5E7286"/>
                </a:solidFill>
                <a:latin typeface="微软雅黑"/>
              </a:rPr>
              <a:t>知识簇（个）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966960" y="1463040"/>
            <a:ext cx="1737360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F5F0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0" y="1627632"/>
            <a:ext cx="1554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1">
                <a:solidFill>
                  <a:srgbClr val="4F6F8F"/>
                </a:solidFill>
                <a:latin typeface="微软雅黑"/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0" y="2267712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5E7286"/>
                </a:solidFill>
                <a:latin typeface="微软雅黑"/>
              </a:rPr>
              <a:t>孤立点（个）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3063240"/>
            <a:ext cx="11064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2C3E4F"/>
                </a:solidFill>
                <a:latin typeface="微软雅黑"/>
              </a:rPr>
              <a:t>关系类型分布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3429000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5E7286"/>
                </a:solidFill>
                <a:latin typeface="微软雅黑"/>
              </a:rPr>
              <a:t>实现关系 126　理论基础 108　前置知识 92　相关 73　知识库桥接 20　等价知识点 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4114800"/>
            <a:ext cx="54864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2C3E4F"/>
                </a:solidFill>
                <a:latin typeface="微软雅黑"/>
              </a:rPr>
              <a:t>结构指标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2C3E4F"/>
                </a:solidFill>
                <a:latin typeface="微软雅黑"/>
              </a:rPr>
              <a:t>平均度 23.78　图谱密度 0.6794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2C3E4F"/>
                </a:solidFill>
                <a:latin typeface="微软雅黑"/>
              </a:rPr>
              <a:t>知识库锚定概念 27 个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2C3E4F"/>
                </a:solidFill>
                <a:latin typeface="微软雅黑"/>
              </a:rPr>
              <a:t>知识库桥接 67 条（跨文件 43 条）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4114800"/>
            <a:ext cx="530352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5E7286"/>
                </a:solidFill>
                <a:latin typeface="微软雅黑"/>
              </a:rPr>
              <a:t>怎么读这份总结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5E7286"/>
                </a:solidFill>
                <a:latin typeface="微软雅黑"/>
              </a:rPr>
              <a:t>① 先看学习主线 → 得到阅读顺序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5E7286"/>
                </a:solidFill>
                <a:latin typeface="微软雅黑"/>
              </a:rPr>
              <a:t>② 再看核心枢纽 → 知道先掌握谁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5E7286"/>
                </a:solidFill>
                <a:latin typeface="微软雅黑"/>
              </a:rPr>
              <a:t>③ 最后看桥接与孤立点 → 知道缺口在哪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6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3D5A75"/>
                </a:solidFill>
                <a:latin typeface="微软雅黑"/>
              </a:rPr>
              <a:t>知识层级结构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96112"/>
            <a:ext cx="111556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E7286"/>
                </a:solidFill>
                <a:latin typeface="微软雅黑"/>
              </a:rPr>
              <a:t>L1 元概念 → L2 核心理论 → L3 应用实践 → L4 实现工具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2688336" cy="658368"/>
          </a:xfrm>
          <a:prstGeom prst="roundRect">
            <a:avLst>
              <a:gd name="adj" fmla="val 12000"/>
            </a:avLst>
          </a:prstGeom>
          <a:solidFill>
            <a:srgbClr val="7CB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4944" y="1572768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FFFFFF"/>
                </a:solidFill>
                <a:latin typeface="微软雅黑"/>
              </a:rPr>
              <a:t>L2 核心理论　3 个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121408"/>
            <a:ext cx="2688336" cy="3566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F5F0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" y="2249424"/>
            <a:ext cx="2395728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2C3E4F"/>
                </a:solidFill>
                <a:latin typeface="微软雅黑"/>
              </a:rPr>
              <a:t>· 青鸟缓存协议的设计目标</a:t>
            </a:r>
          </a:p>
          <a:p>
            <a:pPr algn="l">
              <a:lnSpc>
                <a:spcPct val="140000"/>
              </a:lnSpc>
            </a:pPr>
            <a:r>
              <a:rPr sz="1100" b="0">
                <a:solidFill>
                  <a:srgbClr val="2C3E4F"/>
                </a:solidFill>
                <a:latin typeface="微软雅黑"/>
              </a:rPr>
              <a:t>· 青鸟缓存协议</a:t>
            </a:r>
          </a:p>
          <a:p>
            <a:pPr algn="l">
              <a:lnSpc>
                <a:spcPct val="140000"/>
              </a:lnSpc>
            </a:pPr>
            <a:r>
              <a:rPr sz="1100" b="0">
                <a:solidFill>
                  <a:srgbClr val="2C3E4F"/>
                </a:solidFill>
                <a:latin typeface="微软雅黑"/>
              </a:rPr>
              <a:t>· HTTP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19856" y="1463040"/>
            <a:ext cx="2688336" cy="658368"/>
          </a:xfrm>
          <a:prstGeom prst="roundRect">
            <a:avLst>
              <a:gd name="adj" fmla="val 12000"/>
            </a:avLst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1572768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FFFFFF"/>
                </a:solidFill>
                <a:latin typeface="微软雅黑"/>
              </a:rPr>
              <a:t>L3 应用实践　18 个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19856" y="2121408"/>
            <a:ext cx="2688336" cy="3566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F5F0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66160" y="2249424"/>
            <a:ext cx="2395728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2C3E4F"/>
                </a:solidFill>
                <a:latin typeface="微软雅黑"/>
              </a:rPr>
              <a:t>· DOM</a:t>
            </a:r>
          </a:p>
          <a:p>
            <a:pPr algn="l">
              <a:lnSpc>
                <a:spcPct val="140000"/>
              </a:lnSpc>
            </a:pPr>
            <a:r>
              <a:rPr sz="1100" b="0">
                <a:solidFill>
                  <a:srgbClr val="2C3E4F"/>
                </a:solidFill>
                <a:latin typeface="微软雅黑"/>
              </a:rPr>
              <a:t>· RESTful API</a:t>
            </a:r>
          </a:p>
          <a:p>
            <a:pPr algn="l">
              <a:lnSpc>
                <a:spcPct val="140000"/>
              </a:lnSpc>
            </a:pPr>
            <a:r>
              <a:rPr sz="1100" b="0">
                <a:solidFill>
                  <a:srgbClr val="2C3E4F"/>
                </a:solidFill>
                <a:latin typeface="微软雅黑"/>
              </a:rPr>
              <a:t>· SQL</a:t>
            </a:r>
          </a:p>
          <a:p>
            <a:pPr algn="l">
              <a:lnSpc>
                <a:spcPct val="140000"/>
              </a:lnSpc>
            </a:pPr>
            <a:r>
              <a:rPr sz="1100" b="0">
                <a:solidFill>
                  <a:srgbClr val="2C3E4F"/>
                </a:solidFill>
                <a:latin typeface="微软雅黑"/>
              </a:rPr>
              <a:t>· REST</a:t>
            </a:r>
          </a:p>
          <a:p>
            <a:pPr algn="l">
              <a:lnSpc>
                <a:spcPct val="140000"/>
              </a:lnSpc>
            </a:pPr>
            <a:r>
              <a:rPr sz="1100" b="0">
                <a:solidFill>
                  <a:srgbClr val="2C3E4F"/>
                </a:solidFill>
                <a:latin typeface="微软雅黑"/>
              </a:rPr>
              <a:t>· SQL</a:t>
            </a:r>
          </a:p>
          <a:p>
            <a:pPr algn="l">
              <a:lnSpc>
                <a:spcPct val="140000"/>
              </a:lnSpc>
            </a:pPr>
            <a:r>
              <a:rPr sz="1100" b="0">
                <a:solidFill>
                  <a:srgbClr val="2C3E4F"/>
                </a:solidFill>
                <a:latin typeface="微软雅黑"/>
              </a:rPr>
              <a:t>· SQL</a:t>
            </a:r>
          </a:p>
          <a:p>
            <a:pPr algn="l">
              <a:lnSpc>
                <a:spcPct val="140000"/>
              </a:lnSpc>
            </a:pPr>
            <a:r>
              <a:rPr sz="1100" b="0">
                <a:solidFill>
                  <a:srgbClr val="2C3E4F"/>
                </a:solidFill>
                <a:latin typeface="微软雅黑"/>
              </a:rPr>
              <a:t>· 阅读</a:t>
            </a:r>
          </a:p>
          <a:p>
            <a:pPr algn="l">
              <a:lnSpc>
                <a:spcPct val="140000"/>
              </a:lnSpc>
            </a:pPr>
            <a:r>
              <a:rPr sz="1100" b="0">
                <a:solidFill>
                  <a:srgbClr val="2C3E4F"/>
                </a:solidFill>
                <a:latin typeface="微软雅黑"/>
              </a:rPr>
              <a:t>· 写文章之前先想清楚读者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91072" y="1463040"/>
            <a:ext cx="2688336" cy="658368"/>
          </a:xfrm>
          <a:prstGeom prst="roundRect">
            <a:avLst>
              <a:gd name="adj" fmla="val 12000"/>
            </a:avLst>
          </a:prstGeom>
          <a:solidFill>
            <a:srgbClr val="B9A7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37376" y="1572768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FFFFFF"/>
                </a:solidFill>
                <a:latin typeface="微软雅黑"/>
              </a:rPr>
              <a:t>L4 实现工具　15 个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91072" y="2121408"/>
            <a:ext cx="2688336" cy="3566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F5F0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37376" y="2249424"/>
            <a:ext cx="2395728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2C3E4F"/>
                </a:solidFill>
                <a:latin typeface="微软雅黑"/>
              </a:rPr>
              <a:t>· JavaScript</a:t>
            </a:r>
          </a:p>
          <a:p>
            <a:pPr algn="l">
              <a:lnSpc>
                <a:spcPct val="140000"/>
              </a:lnSpc>
            </a:pPr>
            <a:r>
              <a:rPr sz="1100" b="0">
                <a:solidFill>
                  <a:srgbClr val="2C3E4F"/>
                </a:solidFill>
                <a:latin typeface="微软雅黑"/>
              </a:rPr>
              <a:t>· React</a:t>
            </a:r>
          </a:p>
          <a:p>
            <a:pPr algn="l">
              <a:lnSpc>
                <a:spcPct val="140000"/>
              </a:lnSpc>
            </a:pPr>
            <a:r>
              <a:rPr sz="1100" b="0">
                <a:solidFill>
                  <a:srgbClr val="2C3E4F"/>
                </a:solidFill>
                <a:latin typeface="微软雅黑"/>
              </a:rPr>
              <a:t>· Vue</a:t>
            </a:r>
          </a:p>
          <a:p>
            <a:pPr algn="l">
              <a:lnSpc>
                <a:spcPct val="140000"/>
              </a:lnSpc>
            </a:pPr>
            <a:r>
              <a:rPr sz="1100" b="0">
                <a:solidFill>
                  <a:srgbClr val="2C3E4F"/>
                </a:solidFill>
                <a:latin typeface="微软雅黑"/>
              </a:rPr>
              <a:t>· TypeScript</a:t>
            </a:r>
          </a:p>
          <a:p>
            <a:pPr algn="l">
              <a:lnSpc>
                <a:spcPct val="140000"/>
              </a:lnSpc>
            </a:pPr>
            <a:r>
              <a:rPr sz="1100" b="0">
                <a:solidFill>
                  <a:srgbClr val="2C3E4F"/>
                </a:solidFill>
                <a:latin typeface="微软雅黑"/>
              </a:rPr>
              <a:t>· Webpack</a:t>
            </a:r>
          </a:p>
          <a:p>
            <a:pPr algn="l">
              <a:lnSpc>
                <a:spcPct val="140000"/>
              </a:lnSpc>
            </a:pPr>
            <a:r>
              <a:rPr sz="1100" b="0">
                <a:solidFill>
                  <a:srgbClr val="2C3E4F"/>
                </a:solidFill>
                <a:latin typeface="微软雅黑"/>
              </a:rPr>
              <a:t>· Vue</a:t>
            </a:r>
          </a:p>
          <a:p>
            <a:pPr algn="l">
              <a:lnSpc>
                <a:spcPct val="140000"/>
              </a:lnSpc>
            </a:pPr>
            <a:r>
              <a:rPr sz="1100" b="0">
                <a:solidFill>
                  <a:srgbClr val="2C3E4F"/>
                </a:solidFill>
                <a:latin typeface="微软雅黑"/>
              </a:rPr>
              <a:t>· Node.js</a:t>
            </a:r>
          </a:p>
          <a:p>
            <a:pPr algn="l">
              <a:lnSpc>
                <a:spcPct val="140000"/>
              </a:lnSpc>
            </a:pPr>
            <a:r>
              <a:rPr sz="1100" b="0">
                <a:solidFill>
                  <a:srgbClr val="2C3E4F"/>
                </a:solidFill>
                <a:latin typeface="微软雅黑"/>
              </a:rPr>
              <a:t>· 构建工具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6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3D5A75"/>
                </a:solidFill>
                <a:latin typeface="微软雅黑"/>
              </a:rPr>
              <a:t>领域分布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96112"/>
            <a:ext cx="111556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E7286"/>
                </a:solidFill>
                <a:latin typeface="微软雅黑"/>
              </a:rPr>
              <a:t>各领域的知识点规模与代表内容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508760"/>
            <a:ext cx="1828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2C3E4F"/>
                </a:solidFill>
                <a:latin typeface="微软雅黑"/>
              </a:rPr>
              <a:t>software</a:t>
            </a:r>
          </a:p>
        </p:txBody>
      </p:sp>
      <p:sp>
        <p:nvSpPr>
          <p:cNvPr id="6" name="Rectangle 5"/>
          <p:cNvSpPr/>
          <p:nvPr/>
        </p:nvSpPr>
        <p:spPr>
          <a:xfrm>
            <a:off x="2468880" y="1563624"/>
            <a:ext cx="6035040" cy="219456"/>
          </a:xfrm>
          <a:prstGeom prst="rect">
            <a:avLst/>
          </a:prstGeom>
          <a:solidFill>
            <a:srgbClr val="4F6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41080" y="1508760"/>
            <a:ext cx="9144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E7286"/>
                </a:solidFill>
                <a:latin typeface="微软雅黑"/>
              </a:rPr>
              <a:t>12 个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1508760"/>
            <a:ext cx="2194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5E7286"/>
                </a:solidFill>
                <a:latin typeface="微软雅黑"/>
              </a:rPr>
              <a:t>L3.33｜Node.js、Node.js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993391"/>
            <a:ext cx="1828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2C3E4F"/>
                </a:solidFill>
                <a:latin typeface="微软雅黑"/>
              </a:rPr>
              <a:t>frontend</a:t>
            </a:r>
          </a:p>
        </p:txBody>
      </p:sp>
      <p:sp>
        <p:nvSpPr>
          <p:cNvPr id="10" name="Rectangle 9"/>
          <p:cNvSpPr/>
          <p:nvPr/>
        </p:nvSpPr>
        <p:spPr>
          <a:xfrm>
            <a:off x="2468880" y="2048255"/>
            <a:ext cx="5533478" cy="219456"/>
          </a:xfrm>
          <a:prstGeom prst="rect">
            <a:avLst/>
          </a:prstGeom>
          <a:solidFill>
            <a:srgbClr val="7CB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41080" y="1993391"/>
            <a:ext cx="9144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E7286"/>
                </a:solidFill>
                <a:latin typeface="微软雅黑"/>
              </a:rPr>
              <a:t>11 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1993391"/>
            <a:ext cx="2194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5E7286"/>
                </a:solidFill>
                <a:latin typeface="微软雅黑"/>
              </a:rPr>
              <a:t>L3.91｜JavaScript、React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2478024"/>
            <a:ext cx="1828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2C3E4F"/>
                </a:solidFill>
                <a:latin typeface="微软雅黑"/>
              </a:rPr>
              <a:t>network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68880" y="2532888"/>
            <a:ext cx="3018425" cy="219456"/>
          </a:xfrm>
          <a:prstGeom prst="rect">
            <a:avLst/>
          </a:prstGeom>
          <a:solidFill>
            <a:srgbClr val="4F6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41080" y="2478024"/>
            <a:ext cx="9144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E7286"/>
                </a:solidFill>
                <a:latin typeface="微软雅黑"/>
              </a:rPr>
              <a:t>6 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2478024"/>
            <a:ext cx="2194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5E7286"/>
                </a:solidFill>
                <a:latin typeface="微软雅黑"/>
              </a:rPr>
              <a:t>L2.5｜RESTful API、REST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2962656"/>
            <a:ext cx="1828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2C3E4F"/>
                </a:solidFill>
                <a:latin typeface="微软雅黑"/>
              </a:rPr>
              <a:t>writing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468880" y="3017520"/>
            <a:ext cx="2515052" cy="219456"/>
          </a:xfrm>
          <a:prstGeom prst="rect">
            <a:avLst/>
          </a:prstGeom>
          <a:solidFill>
            <a:srgbClr val="7CB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41080" y="2962656"/>
            <a:ext cx="9144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E7286"/>
                </a:solidFill>
                <a:latin typeface="微软雅黑"/>
              </a:rPr>
              <a:t>5 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0" y="2962656"/>
            <a:ext cx="2194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5E7286"/>
                </a:solidFill>
                <a:latin typeface="微软雅黑"/>
              </a:rPr>
              <a:t>L3.0｜阅读、写文章之前先想清楚读者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3447288"/>
            <a:ext cx="1828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2C3E4F"/>
                </a:solidFill>
                <a:latin typeface="微软雅黑"/>
              </a:rPr>
              <a:t>database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468880" y="3502152"/>
            <a:ext cx="1006745" cy="219456"/>
          </a:xfrm>
          <a:prstGeom prst="rect">
            <a:avLst/>
          </a:prstGeom>
          <a:solidFill>
            <a:srgbClr val="4F6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41080" y="3447288"/>
            <a:ext cx="9144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E7286"/>
                </a:solidFill>
                <a:latin typeface="微软雅黑"/>
              </a:rPr>
              <a:t>2 个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3447288"/>
            <a:ext cx="2194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5E7286"/>
                </a:solidFill>
                <a:latin typeface="微软雅黑"/>
              </a:rPr>
              <a:t>L3.5｜MySQL、SQL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6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3D5A75"/>
                </a:solidFill>
                <a:latin typeface="微软雅黑"/>
              </a:rPr>
              <a:t>核心枢纽知识点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96112"/>
            <a:ext cx="111556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E7286"/>
                </a:solidFill>
                <a:latin typeface="微软雅黑"/>
              </a:rPr>
              <a:t>连接数最高的知识点 —— 先掌握它们收益最大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63040"/>
          <a:ext cx="1106424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1005840"/>
                <a:gridCol w="1645920"/>
                <a:gridCol w="1097280"/>
                <a:gridCol w="4389120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</a:rPr>
                        <a:t>知识点</a:t>
                      </a:r>
                    </a:p>
                  </a:txBody>
                  <a:tcPr>
                    <a:solidFill>
                      <a:srgbClr val="4F6F8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</a:rPr>
                        <a:t>层级</a:t>
                      </a:r>
                    </a:p>
                  </a:txBody>
                  <a:tcPr>
                    <a:solidFill>
                      <a:srgbClr val="4F6F8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</a:rPr>
                        <a:t>领域</a:t>
                      </a:r>
                    </a:p>
                  </a:txBody>
                  <a:tcPr>
                    <a:solidFill>
                      <a:srgbClr val="4F6F8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</a:rPr>
                        <a:t>连接数</a:t>
                      </a:r>
                    </a:p>
                  </a:txBody>
                  <a:tcPr>
                    <a:solidFill>
                      <a:srgbClr val="4F6F8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</a:rPr>
                        <a:t>连到谁</a:t>
                      </a:r>
                    </a:p>
                  </a:txBody>
                  <a:tcPr>
                    <a:solidFill>
                      <a:srgbClr val="4F6F8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C3E4F"/>
                          </a:solidFill>
                          <a:latin typeface="微软雅黑"/>
                        </a:rPr>
                        <a:t>JavaScript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C3E4F"/>
                          </a:solidFill>
                          <a:latin typeface="微软雅黑"/>
                        </a:rPr>
                        <a:t>L4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C3E4F"/>
                          </a:solidFill>
                          <a:latin typeface="微软雅黑"/>
                        </a:rPr>
                        <a:t>frontend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C3E4F"/>
                          </a:solidFill>
                          <a:latin typeface="微软雅黑"/>
                        </a:rPr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C3E4F"/>
                          </a:solidFill>
                          <a:latin typeface="微软雅黑"/>
                        </a:rPr>
                        <a:t>写文章之前先想清楚读者、读者、结构、结构、笔记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C3E4F"/>
                          </a:solidFill>
                          <a:latin typeface="微软雅黑"/>
                        </a:rPr>
                        <a:t>React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C3E4F"/>
                          </a:solidFill>
                          <a:latin typeface="微软雅黑"/>
                        </a:rPr>
                        <a:t>L4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C3E4F"/>
                          </a:solidFill>
                          <a:latin typeface="微软雅黑"/>
                        </a:rPr>
                        <a:t>frontend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C3E4F"/>
                          </a:solidFill>
                          <a:latin typeface="微软雅黑"/>
                        </a:rPr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C3E4F"/>
                          </a:solidFill>
                          <a:latin typeface="微软雅黑"/>
                        </a:rPr>
                        <a:t>写文章之前先想清楚读者、读者、结构、结构、笔记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C3E4F"/>
                          </a:solidFill>
                          <a:latin typeface="微软雅黑"/>
                        </a:rPr>
                        <a:t>Vue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C3E4F"/>
                          </a:solidFill>
                          <a:latin typeface="微软雅黑"/>
                        </a:rPr>
                        <a:t>L4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C3E4F"/>
                          </a:solidFill>
                          <a:latin typeface="微软雅黑"/>
                        </a:rPr>
                        <a:t>frontend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C3E4F"/>
                          </a:solidFill>
                          <a:latin typeface="微软雅黑"/>
                        </a:rPr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C3E4F"/>
                          </a:solidFill>
                          <a:latin typeface="微软雅黑"/>
                        </a:rPr>
                        <a:t>写文章之前先想清楚读者、读者、结构、结构、笔记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C3E4F"/>
                          </a:solidFill>
                          <a:latin typeface="微软雅黑"/>
                        </a:rPr>
                        <a:t>TypeScript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C3E4F"/>
                          </a:solidFill>
                          <a:latin typeface="微软雅黑"/>
                        </a:rPr>
                        <a:t>L4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C3E4F"/>
                          </a:solidFill>
                          <a:latin typeface="微软雅黑"/>
                        </a:rPr>
                        <a:t>frontend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C3E4F"/>
                          </a:solidFill>
                          <a:latin typeface="微软雅黑"/>
                        </a:rPr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C3E4F"/>
                          </a:solidFill>
                          <a:latin typeface="微软雅黑"/>
                        </a:rPr>
                        <a:t>写文章之前先想清楚读者、读者、结构、结构、笔记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C3E4F"/>
                          </a:solidFill>
                          <a:latin typeface="微软雅黑"/>
                        </a:rPr>
                        <a:t>DOM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C3E4F"/>
                          </a:solidFill>
                          <a:latin typeface="微软雅黑"/>
                        </a:rPr>
                        <a:t>L3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C3E4F"/>
                          </a:solidFill>
                          <a:latin typeface="微软雅黑"/>
                        </a:rPr>
                        <a:t>frontend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C3E4F"/>
                          </a:solidFill>
                          <a:latin typeface="微软雅黑"/>
                        </a:rPr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C3E4F"/>
                          </a:solidFill>
                          <a:latin typeface="微软雅黑"/>
                        </a:rPr>
                        <a:t>写文章之前先想清楚读者、读者、结构、结构、笔记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C3E4F"/>
                          </a:solidFill>
                          <a:latin typeface="微软雅黑"/>
                        </a:rPr>
                        <a:t>Webpack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C3E4F"/>
                          </a:solidFill>
                          <a:latin typeface="微软雅黑"/>
                        </a:rPr>
                        <a:t>L4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C3E4F"/>
                          </a:solidFill>
                          <a:latin typeface="微软雅黑"/>
                        </a:rPr>
                        <a:t>frontend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C3E4F"/>
                          </a:solidFill>
                          <a:latin typeface="微软雅黑"/>
                        </a:rPr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C3E4F"/>
                          </a:solidFill>
                          <a:latin typeface="微软雅黑"/>
                        </a:rPr>
                        <a:t>写文章之前先想清楚读者、读者、结构、结构、笔记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C3E4F"/>
                          </a:solidFill>
                          <a:latin typeface="微软雅黑"/>
                        </a:rPr>
                        <a:t>Vue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C3E4F"/>
                          </a:solidFill>
                          <a:latin typeface="微软雅黑"/>
                        </a:rPr>
                        <a:t>L4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C3E4F"/>
                          </a:solidFill>
                          <a:latin typeface="微软雅黑"/>
                        </a:rPr>
                        <a:t>frontend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C3E4F"/>
                          </a:solidFill>
                          <a:latin typeface="微软雅黑"/>
                        </a:rPr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C3E4F"/>
                          </a:solidFill>
                          <a:latin typeface="微软雅黑"/>
                        </a:rPr>
                        <a:t>写文章之前先想清楚读者、读者、结构、结构、笔记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6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3D5A75"/>
                </a:solidFill>
                <a:latin typeface="微软雅黑"/>
              </a:rPr>
              <a:t>知识簇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96112"/>
            <a:ext cx="111556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E7286"/>
                </a:solidFill>
                <a:latin typeface="微软雅黑"/>
              </a:rPr>
              <a:t>彼此连通的知识群 —— 每个簇就是一块可独立学习的模块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08760"/>
            <a:ext cx="5440680" cy="1508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F5F0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508760"/>
            <a:ext cx="82296" cy="1508760"/>
          </a:xfrm>
          <a:prstGeom prst="rect">
            <a:avLst/>
          </a:prstGeom>
          <a:solidFill>
            <a:srgbClr val="7CB8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18488"/>
            <a:ext cx="50292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3D5A75"/>
                </a:solidFill>
                <a:latin typeface="微软雅黑"/>
              </a:rPr>
              <a:t>簇 1｜JavaScript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965960"/>
            <a:ext cx="50292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5E7286"/>
                </a:solidFill>
                <a:latin typeface="微软雅黑"/>
              </a:rPr>
              <a:t>36 个知识点 · 主领域 software · 5 个文件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86000"/>
            <a:ext cx="5029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2C3E4F"/>
                </a:solidFill>
                <a:latin typeface="微软雅黑"/>
              </a:rPr>
              <a:t>代表：JavaScript、React、Vue、TypeScript、DOM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6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3D5A75"/>
                </a:solidFill>
                <a:latin typeface="微软雅黑"/>
              </a:rPr>
              <a:t>总结流程图（学习主线）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96112"/>
            <a:ext cx="111556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E7286"/>
                </a:solidFill>
                <a:latin typeface="微软雅黑"/>
              </a:rPr>
              <a:t>把网状知识拉成一条可执行的流程：按箭头方向学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36192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5E7286"/>
                </a:solidFill>
                <a:latin typeface="微软雅黑"/>
              </a:rPr>
              <a:t>主线 1：3 步　software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65376"/>
            <a:ext cx="1572768" cy="914400"/>
          </a:xfrm>
          <a:prstGeom prst="roundRect">
            <a:avLst>
              <a:gd name="adj" fmla="val 14000"/>
            </a:avLst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>
                <a:solidFill>
                  <a:srgbClr val="FFFFFF"/>
                </a:solidFill>
                <a:latin typeface="微软雅黑"/>
              </a:rPr>
              <a:t>1. SQL
L3 · software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139696" y="2194560"/>
            <a:ext cx="182879" cy="256032"/>
          </a:xfrm>
          <a:prstGeom prst="rightArrow">
            <a:avLst/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340864" y="1865376"/>
            <a:ext cx="1572768" cy="914400"/>
          </a:xfrm>
          <a:prstGeom prst="roundRect">
            <a:avLst>
              <a:gd name="adj" fmla="val 14000"/>
            </a:avLst>
          </a:prstGeom>
          <a:solidFill>
            <a:srgbClr val="B9A7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>
                <a:solidFill>
                  <a:srgbClr val="FFFFFF"/>
                </a:solidFill>
                <a:latin typeface="微软雅黑"/>
              </a:rPr>
              <a:t>2. MySQL
L4 · software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931920" y="2194560"/>
            <a:ext cx="182879" cy="256032"/>
          </a:xfrm>
          <a:prstGeom prst="rightArrow">
            <a:avLst/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67912" y="2798064"/>
            <a:ext cx="676656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800" b="0">
                <a:solidFill>
                  <a:srgbClr val="5E7286"/>
                </a:solidFill>
                <a:latin typeface="微软雅黑"/>
              </a:rPr>
              <a:t>相关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33087" y="1865376"/>
            <a:ext cx="1572768" cy="914400"/>
          </a:xfrm>
          <a:prstGeom prst="roundRect">
            <a:avLst>
              <a:gd name="adj" fmla="val 14000"/>
            </a:avLst>
          </a:prstGeom>
          <a:solidFill>
            <a:srgbClr val="B9A7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>
                <a:solidFill>
                  <a:srgbClr val="FFFFFF"/>
                </a:solidFill>
                <a:latin typeface="微软雅黑"/>
              </a:rPr>
              <a:t>3. Node.js
L4 · software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108960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5E7286"/>
                </a:solidFill>
                <a:latin typeface="微软雅黑"/>
              </a:rPr>
              <a:t>主线 2：3 步　frontend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438144"/>
            <a:ext cx="1572768" cy="914400"/>
          </a:xfrm>
          <a:prstGeom prst="roundRect">
            <a:avLst>
              <a:gd name="adj" fmla="val 14000"/>
            </a:avLst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>
                <a:solidFill>
                  <a:srgbClr val="FFFFFF"/>
                </a:solidFill>
                <a:latin typeface="微软雅黑"/>
              </a:rPr>
              <a:t>1. DOM
L3 · frontend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2139696" y="3767328"/>
            <a:ext cx="182879" cy="256032"/>
          </a:xfrm>
          <a:prstGeom prst="rightArrow">
            <a:avLst/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340864" y="3438144"/>
            <a:ext cx="1572768" cy="914400"/>
          </a:xfrm>
          <a:prstGeom prst="roundRect">
            <a:avLst>
              <a:gd name="adj" fmla="val 14000"/>
            </a:avLst>
          </a:prstGeom>
          <a:solidFill>
            <a:srgbClr val="B9A7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>
                <a:solidFill>
                  <a:srgbClr val="FFFFFF"/>
                </a:solidFill>
                <a:latin typeface="微软雅黑"/>
              </a:rPr>
              <a:t>2. JavaScript
L4 · frontend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3931920" y="3767328"/>
            <a:ext cx="182879" cy="256032"/>
          </a:xfrm>
          <a:prstGeom prst="rightArrow">
            <a:avLst/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67912" y="4370832"/>
            <a:ext cx="676656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800" b="0">
                <a:solidFill>
                  <a:srgbClr val="5E7286"/>
                </a:solidFill>
                <a:latin typeface="微软雅黑"/>
              </a:rPr>
              <a:t>等价知识点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33087" y="3438144"/>
            <a:ext cx="1572768" cy="914400"/>
          </a:xfrm>
          <a:prstGeom prst="roundRect">
            <a:avLst>
              <a:gd name="adj" fmla="val 14000"/>
            </a:avLst>
          </a:prstGeom>
          <a:solidFill>
            <a:srgbClr val="B9A7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>
                <a:solidFill>
                  <a:srgbClr val="FFFFFF"/>
                </a:solidFill>
                <a:latin typeface="微软雅黑"/>
              </a:rPr>
              <a:t>3. Vue
L4 · frontend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681728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5E7286"/>
                </a:solidFill>
                <a:latin typeface="微软雅黑"/>
              </a:rPr>
              <a:t>主线 3：4 步　frontend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010912"/>
            <a:ext cx="1572768" cy="914400"/>
          </a:xfrm>
          <a:prstGeom prst="roundRect">
            <a:avLst>
              <a:gd name="adj" fmla="val 14000"/>
            </a:avLst>
          </a:prstGeom>
          <a:solidFill>
            <a:srgbClr val="B9A7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>
                <a:solidFill>
                  <a:srgbClr val="FFFFFF"/>
                </a:solidFill>
                <a:latin typeface="微软雅黑"/>
              </a:rPr>
              <a:t>1. TypeScript
L4 · frontend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2139696" y="5340096"/>
            <a:ext cx="182879" cy="256032"/>
          </a:xfrm>
          <a:prstGeom prst="rightArrow">
            <a:avLst/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340864" y="5010912"/>
            <a:ext cx="1572768" cy="914400"/>
          </a:xfrm>
          <a:prstGeom prst="roundRect">
            <a:avLst>
              <a:gd name="adj" fmla="val 14000"/>
            </a:avLst>
          </a:prstGeom>
          <a:solidFill>
            <a:srgbClr val="B9A7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>
                <a:solidFill>
                  <a:srgbClr val="FFFFFF"/>
                </a:solidFill>
                <a:latin typeface="微软雅黑"/>
              </a:rPr>
              <a:t>2. React
L4 · frontend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3931920" y="5340096"/>
            <a:ext cx="182879" cy="256032"/>
          </a:xfrm>
          <a:prstGeom prst="rightArrow">
            <a:avLst/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67912" y="5943600"/>
            <a:ext cx="676656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800" b="0">
                <a:solidFill>
                  <a:srgbClr val="5E7286"/>
                </a:solidFill>
                <a:latin typeface="微软雅黑"/>
              </a:rPr>
              <a:t>知识库桥接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133087" y="5010912"/>
            <a:ext cx="1572768" cy="914400"/>
          </a:xfrm>
          <a:prstGeom prst="roundRect">
            <a:avLst>
              <a:gd name="adj" fmla="val 14000"/>
            </a:avLst>
          </a:prstGeom>
          <a:solidFill>
            <a:srgbClr val="B9A7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>
                <a:solidFill>
                  <a:srgbClr val="FFFFFF"/>
                </a:solidFill>
                <a:latin typeface="微软雅黑"/>
              </a:rPr>
              <a:t>3. Vue
L4 · frontend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5724143" y="5340096"/>
            <a:ext cx="182879" cy="256032"/>
          </a:xfrm>
          <a:prstGeom prst="rightArrow">
            <a:avLst/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60136" y="5943600"/>
            <a:ext cx="676656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800" b="0">
                <a:solidFill>
                  <a:srgbClr val="5E7286"/>
                </a:solidFill>
                <a:latin typeface="微软雅黑"/>
              </a:rPr>
              <a:t>相关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25312" y="5010912"/>
            <a:ext cx="1572768" cy="914400"/>
          </a:xfrm>
          <a:prstGeom prst="roundRect">
            <a:avLst>
              <a:gd name="adj" fmla="val 14000"/>
            </a:avLst>
          </a:prstGeom>
          <a:solidFill>
            <a:srgbClr val="B9A7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>
                <a:solidFill>
                  <a:srgbClr val="FFFFFF"/>
                </a:solidFill>
                <a:latin typeface="微软雅黑"/>
              </a:rPr>
              <a:t>4. JavaScript
L4 · frontend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309360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5E7286"/>
                </a:solidFill>
                <a:latin typeface="微软雅黑"/>
              </a:rPr>
              <a:t>箭头上的文字＝两个知识点之间的真实关系类型（前置/理论/实现/应用…），全部来自图谱里的真实连线，可直接作为学习计划或交给 AI 继续展开。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6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3D5A75"/>
                </a:solidFill>
                <a:latin typeface="微软雅黑"/>
              </a:rPr>
              <a:t>知识库桥接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96112"/>
            <a:ext cx="111556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E7286"/>
                </a:solidFill>
                <a:latin typeface="微软雅黑"/>
              </a:rPr>
              <a:t>由知识库推理建立的知识通路（虚线关系）—— 跨文件、跨领域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63040"/>
          <a:ext cx="1106424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1188720"/>
                <a:gridCol w="2468880"/>
                <a:gridCol w="822960"/>
                <a:gridCol w="4114800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</a:rPr>
                        <a:t>源知识点</a:t>
                      </a:r>
                    </a:p>
                  </a:txBody>
                  <a:tcPr>
                    <a:solidFill>
                      <a:srgbClr val="7CB8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</a:rPr>
                        <a:t>关系</a:t>
                      </a:r>
                    </a:p>
                  </a:txBody>
                  <a:tcPr>
                    <a:solidFill>
                      <a:srgbClr val="7CB8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</a:rPr>
                        <a:t>目标知识点</a:t>
                      </a:r>
                    </a:p>
                  </a:txBody>
                  <a:tcPr>
                    <a:solidFill>
                      <a:srgbClr val="7CB8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</a:rPr>
                        <a:t>分数</a:t>
                      </a:r>
                    </a:p>
                  </a:txBody>
                  <a:tcPr>
                    <a:solidFill>
                      <a:srgbClr val="7CB8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</a:rPr>
                        <a:t>证据</a:t>
                      </a:r>
                    </a:p>
                  </a:txBody>
                  <a:tcPr>
                    <a:solidFill>
                      <a:srgbClr val="7CB8A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C3E4F"/>
                          </a:solidFill>
                          <a:latin typeface="微软雅黑"/>
                        </a:rPr>
                        <a:t>Vue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C3E4F"/>
                          </a:solidFill>
                          <a:latin typeface="微软雅黑"/>
                        </a:rPr>
                        <a:t>等价知识点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C3E4F"/>
                          </a:solidFill>
                          <a:latin typeface="微软雅黑"/>
                        </a:rPr>
                        <a:t>Vue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C3E4F"/>
                          </a:solidFill>
                          <a:latin typeface="微软雅黑"/>
                        </a:rPr>
                        <a:t>0.9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C3E4F"/>
                          </a:solidFill>
                          <a:latin typeface="微软雅黑"/>
                        </a:rPr>
                        <a:t>两个知识点均锚定知识库条目「Vue」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C3E4F"/>
                          </a:solidFill>
                          <a:latin typeface="微软雅黑"/>
                        </a:rPr>
                        <a:t>JavaScript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C3E4F"/>
                          </a:solidFill>
                          <a:latin typeface="微软雅黑"/>
                        </a:rPr>
                        <a:t>等价知识点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C3E4F"/>
                          </a:solidFill>
                          <a:latin typeface="微软雅黑"/>
                        </a:rPr>
                        <a:t>Vue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C3E4F"/>
                          </a:solidFill>
                          <a:latin typeface="微软雅黑"/>
                        </a:rPr>
                        <a:t>0.9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C3E4F"/>
                          </a:solidFill>
                          <a:latin typeface="微软雅黑"/>
                        </a:rPr>
                        <a:t>两个知识点均锚定知识库条目「前端开发」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C3E4F"/>
                          </a:solidFill>
                          <a:latin typeface="微软雅黑"/>
                        </a:rPr>
                        <a:t>TypeScript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C3E4F"/>
                          </a:solidFill>
                          <a:latin typeface="微软雅黑"/>
                        </a:rPr>
                        <a:t>等价知识点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C3E4F"/>
                          </a:solidFill>
                          <a:latin typeface="微软雅黑"/>
                        </a:rPr>
                        <a:t>TypeScript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C3E4F"/>
                          </a:solidFill>
                          <a:latin typeface="微软雅黑"/>
                        </a:rPr>
                        <a:t>0.9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C3E4F"/>
                          </a:solidFill>
                          <a:latin typeface="微软雅黑"/>
                        </a:rPr>
                        <a:t>两个知识点均锚定知识库条目「TypeScript」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C3E4F"/>
                          </a:solidFill>
                          <a:latin typeface="微软雅黑"/>
                        </a:rPr>
                        <a:t>Webpack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C3E4F"/>
                          </a:solidFill>
                          <a:latin typeface="微软雅黑"/>
                        </a:rPr>
                        <a:t>等价知识点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C3E4F"/>
                          </a:solidFill>
                          <a:latin typeface="微软雅黑"/>
                        </a:rPr>
                        <a:t>构建工具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C3E4F"/>
                          </a:solidFill>
                          <a:latin typeface="微软雅黑"/>
                        </a:rPr>
                        <a:t>0.9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C3E4F"/>
                          </a:solidFill>
                          <a:latin typeface="微软雅黑"/>
                        </a:rPr>
                        <a:t>两个知识点均锚定知识库条目「Webpack」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C3E4F"/>
                          </a:solidFill>
                          <a:latin typeface="微软雅黑"/>
                        </a:rPr>
                        <a:t>SQL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C3E4F"/>
                          </a:solidFill>
                          <a:latin typeface="微软雅黑"/>
                        </a:rPr>
                        <a:t>等价知识点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C3E4F"/>
                          </a:solidFill>
                          <a:latin typeface="微软雅黑"/>
                        </a:rPr>
                        <a:t>MySQL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C3E4F"/>
                          </a:solidFill>
                          <a:latin typeface="微软雅黑"/>
                        </a:rPr>
                        <a:t>0.9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C3E4F"/>
                          </a:solidFill>
                          <a:latin typeface="微软雅黑"/>
                        </a:rPr>
                        <a:t>两个知识点均锚定知识库条目「SQL」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C3E4F"/>
                          </a:solidFill>
                          <a:latin typeface="微软雅黑"/>
                        </a:rPr>
                        <a:t>JavaScript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C3E4F"/>
                          </a:solidFill>
                          <a:latin typeface="微软雅黑"/>
                        </a:rPr>
                        <a:t>等价知识点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C3E4F"/>
                          </a:solidFill>
                          <a:latin typeface="微软雅黑"/>
                        </a:rPr>
                        <a:t>Node.js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C3E4F"/>
                          </a:solidFill>
                          <a:latin typeface="微软雅黑"/>
                        </a:rPr>
                        <a:t>0.9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C3E4F"/>
                          </a:solidFill>
                          <a:latin typeface="微软雅黑"/>
                        </a:rPr>
                        <a:t>两个知识点均锚定知识库条目「JavaScript」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C3E4F"/>
                          </a:solidFill>
                          <a:latin typeface="微软雅黑"/>
                        </a:rPr>
                        <a:t>Node.js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C3E4F"/>
                          </a:solidFill>
                          <a:latin typeface="微软雅黑"/>
                        </a:rPr>
                        <a:t>等价知识点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C3E4F"/>
                          </a:solidFill>
                          <a:latin typeface="微软雅黑"/>
                        </a:rPr>
                        <a:t>Node.js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C3E4F"/>
                          </a:solidFill>
                          <a:latin typeface="微软雅黑"/>
                        </a:rPr>
                        <a:t>0.9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C3E4F"/>
                          </a:solidFill>
                          <a:latin typeface="微软雅黑"/>
                        </a:rPr>
                        <a:t>两个知识点均锚定知识库条目「Node.js」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6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3D5A75"/>
                </a:solidFill>
                <a:latin typeface="微软雅黑"/>
              </a:rPr>
              <a:t>待补全与建议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96112"/>
            <a:ext cx="111556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E7286"/>
                </a:solidFill>
                <a:latin typeface="微软雅黑"/>
              </a:rPr>
              <a:t>图谱的短板在哪，下一步补什么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463040"/>
            <a:ext cx="5303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D4A574"/>
                </a:solidFill>
                <a:latin typeface="微软雅黑"/>
              </a:rPr>
              <a:t>孤立知识点（0 个）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828800"/>
            <a:ext cx="530352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2C3E4F"/>
                </a:solidFill>
                <a:latin typeface="微软雅黑"/>
              </a:rPr>
              <a:t>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463040"/>
            <a:ext cx="5303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4F6F8F"/>
                </a:solidFill>
                <a:latin typeface="微软雅黑"/>
              </a:rPr>
              <a:t>结论与建议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828800"/>
            <a:ext cx="530352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2C3E4F"/>
                </a:solidFill>
                <a:latin typeface="微软雅黑"/>
              </a:rPr>
              <a:t>1. 知识库还有这些领域未被文档覆盖：data_flow、framework、low_level、programming_paradigm，可上传相关文档补齐。</a:t>
            </a:r>
          </a:p>
          <a:p>
            <a:pPr algn="l">
              <a:lnSpc>
                <a:spcPct val="140000"/>
              </a:lnSpc>
            </a:pPr>
            <a:r>
              <a:rPr sz="1150" b="0">
                <a:solidFill>
                  <a:srgbClr val="2C3E4F"/>
                </a:solidFill>
                <a:latin typeface="微软雅黑"/>
              </a:rPr>
              <a:t>2. 缺少 L1 元概念层知识点，图谱缺少「顶层骨架」，建议补充领域总览类文档。</a:t>
            </a:r>
          </a:p>
          <a:p>
            <a:pPr algn="l">
              <a:lnSpc>
                <a:spcPct val="140000"/>
              </a:lnSpc>
            </a:pPr>
            <a:r>
              <a:rPr sz="1150" b="0">
                <a:solidFill>
                  <a:srgbClr val="2C3E4F"/>
                </a:solidFill>
                <a:latin typeface="微软雅黑"/>
              </a:rPr>
              <a:t>3. 「JavaScript」连接了 34 个知识点，建议拆分为更细的知识点或建立子分组，避免单点过载。</a:t>
            </a:r>
          </a:p>
          <a:p>
            <a:pPr algn="l">
              <a:lnSpc>
                <a:spcPct val="140000"/>
              </a:lnSpc>
            </a:pPr>
            <a:r>
              <a:rPr sz="1150" b="0">
                <a:solidFill>
                  <a:srgbClr val="2C3E4F"/>
                </a:solidFill>
                <a:latin typeface="微软雅黑"/>
              </a:rPr>
              <a:t>4. 80% 的连线是低分弱关联（多由时间窗/层级差推出，非知识依据），建议在「知识库」页点「重建知识关联」，让关联改由知识库概念空间决定；否则学习主线的可信度会受影响。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6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3D5A75"/>
                </a:solidFill>
                <a:latin typeface="微软雅黑"/>
              </a:rPr>
              <a:t>把这张图交给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96112"/>
            <a:ext cx="111556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E7286"/>
                </a:solidFill>
                <a:latin typeface="微软雅黑"/>
              </a:rPr>
              <a:t>总结流程图是机器可读的，直接粘贴给大模型即可继续学习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463040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2C3E4F"/>
                </a:solidFill>
                <a:latin typeface="微软雅黑"/>
              </a:rPr>
              <a:t>在「图谱总结」页面点击「复制 AI 摘要 / 复制 Mermaid」，粘贴到任意支持 Mermaid 的 对话框或编辑器（ChatGPT / Claude / 飞书 / Notion / VSCode）即可。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03120"/>
            <a:ext cx="11064240" cy="39319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F5F0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286000"/>
            <a:ext cx="10607040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5E7286"/>
                </a:solidFill>
                <a:latin typeface="微软雅黑"/>
              </a:rPr>
              <a:t>flowchart TD</a:t>
            </a:r>
          </a:p>
          <a:p>
            <a:pPr algn="l">
              <a:lnSpc>
                <a:spcPct val="115000"/>
              </a:lnSpc>
            </a:pPr>
            <a:r>
              <a:rPr sz="800" b="0">
                <a:solidFill>
                  <a:srgbClr val="5E7286"/>
                </a:solidFill>
                <a:latin typeface="微软雅黑"/>
              </a:rPr>
              <a:t>  %% 由知识图谱自动生成的总结流程图（可直接粘贴到 Mermaid / 支持 Mermaid 的编辑器）</a:t>
            </a:r>
          </a:p>
          <a:p>
            <a:pPr algn="l">
              <a:lnSpc>
                <a:spcPct val="115000"/>
              </a:lnSpc>
            </a:pPr>
            <a:r>
              <a:rPr sz="800" b="0">
                <a:solidFill>
                  <a:srgbClr val="5E7286"/>
                </a:solidFill>
                <a:latin typeface="微软雅黑"/>
              </a:rPr>
              <a:t>  subgraph L2_____["L2 核心理论"]</a:t>
            </a:r>
          </a:p>
          <a:p>
            <a:pPr algn="l">
              <a:lnSpc>
                <a:spcPct val="115000"/>
              </a:lnSpc>
            </a:pPr>
            <a:r>
              <a:rPr sz="800" b="0">
                <a:solidFill>
                  <a:srgbClr val="5E7286"/>
                </a:solidFill>
                <a:latin typeface="微软雅黑"/>
              </a:rPr>
              <a:t>    direction LR</a:t>
            </a:r>
          </a:p>
          <a:p>
            <a:pPr algn="l">
              <a:lnSpc>
                <a:spcPct val="115000"/>
              </a:lnSpc>
            </a:pPr>
            <a:r>
              <a:rPr sz="800" b="0">
                <a:solidFill>
                  <a:srgbClr val="5E7286"/>
                </a:solidFill>
                <a:latin typeface="微软雅黑"/>
              </a:rPr>
              <a:t>    n34["青鸟缓存协议的设计目标"]</a:t>
            </a:r>
          </a:p>
          <a:p>
            <a:pPr algn="l">
              <a:lnSpc>
                <a:spcPct val="115000"/>
              </a:lnSpc>
            </a:pPr>
            <a:r>
              <a:rPr sz="800" b="0">
                <a:solidFill>
                  <a:srgbClr val="5E7286"/>
                </a:solidFill>
                <a:latin typeface="微软雅黑"/>
              </a:rPr>
              <a:t>    n33["青鸟缓存协议"]</a:t>
            </a:r>
          </a:p>
          <a:p>
            <a:pPr algn="l">
              <a:lnSpc>
                <a:spcPct val="115000"/>
              </a:lnSpc>
            </a:pPr>
            <a:r>
              <a:rPr sz="800" b="0">
                <a:solidFill>
                  <a:srgbClr val="5E7286"/>
                </a:solidFill>
                <a:latin typeface="微软雅黑"/>
              </a:rPr>
              <a:t>    n26["HTTP"]</a:t>
            </a:r>
          </a:p>
          <a:p>
            <a:pPr algn="l">
              <a:lnSpc>
                <a:spcPct val="115000"/>
              </a:lnSpc>
            </a:pPr>
            <a:r>
              <a:rPr sz="800" b="0">
                <a:solidFill>
                  <a:srgbClr val="5E7286"/>
                </a:solidFill>
                <a:latin typeface="微软雅黑"/>
              </a:rPr>
              <a:t>  end</a:t>
            </a:r>
          </a:p>
          <a:p>
            <a:pPr algn="l">
              <a:lnSpc>
                <a:spcPct val="115000"/>
              </a:lnSpc>
            </a:pPr>
            <a:r>
              <a:rPr sz="800" b="0">
                <a:solidFill>
                  <a:srgbClr val="5E7286"/>
                </a:solidFill>
                <a:latin typeface="微软雅黑"/>
              </a:rPr>
              <a:t>  subgraph L3_____["L3 应用实践"]</a:t>
            </a:r>
          </a:p>
          <a:p>
            <a:pPr algn="l">
              <a:lnSpc>
                <a:spcPct val="115000"/>
              </a:lnSpc>
            </a:pPr>
            <a:r>
              <a:rPr sz="800" b="0">
                <a:solidFill>
                  <a:srgbClr val="5E7286"/>
                </a:solidFill>
                <a:latin typeface="微软雅黑"/>
              </a:rPr>
              <a:t>    direction LR</a:t>
            </a:r>
          </a:p>
          <a:p>
            <a:pPr algn="l">
              <a:lnSpc>
                <a:spcPct val="115000"/>
              </a:lnSpc>
            </a:pPr>
            <a:r>
              <a:rPr sz="800" b="0">
                <a:solidFill>
                  <a:srgbClr val="5E7286"/>
                </a:solidFill>
                <a:latin typeface="微软雅黑"/>
              </a:rPr>
              <a:t>    n11["DOM"]</a:t>
            </a:r>
          </a:p>
          <a:p>
            <a:pPr algn="l">
              <a:lnSpc>
                <a:spcPct val="115000"/>
              </a:lnSpc>
            </a:pPr>
            <a:r>
              <a:rPr sz="800" b="0">
                <a:solidFill>
                  <a:srgbClr val="5E7286"/>
                </a:solidFill>
                <a:latin typeface="微软雅黑"/>
              </a:rPr>
              <a:t>    n24["RESTful API"]</a:t>
            </a:r>
          </a:p>
          <a:p>
            <a:pPr algn="l">
              <a:lnSpc>
                <a:spcPct val="115000"/>
              </a:lnSpc>
            </a:pPr>
            <a:r>
              <a:rPr sz="800" b="0">
                <a:solidFill>
                  <a:srgbClr val="5E7286"/>
                </a:solidFill>
                <a:latin typeface="微软雅黑"/>
              </a:rPr>
              <a:t>    n30["SQL"]</a:t>
            </a:r>
          </a:p>
          <a:p>
            <a:pPr algn="l">
              <a:lnSpc>
                <a:spcPct val="115000"/>
              </a:lnSpc>
            </a:pPr>
            <a:r>
              <a:rPr sz="800" b="0">
                <a:solidFill>
                  <a:srgbClr val="5E7286"/>
                </a:solidFill>
                <a:latin typeface="微软雅黑"/>
              </a:rPr>
              <a:t>    n25["REST"]</a:t>
            </a:r>
          </a:p>
          <a:p>
            <a:pPr algn="l">
              <a:lnSpc>
                <a:spcPct val="115000"/>
              </a:lnSpc>
            </a:pPr>
            <a:r>
              <a:rPr sz="800" b="0">
                <a:solidFill>
                  <a:srgbClr val="5E7286"/>
                </a:solidFill>
                <a:latin typeface="微软雅黑"/>
              </a:rPr>
              <a:t>    n29["SQL"]</a:t>
            </a:r>
          </a:p>
          <a:p>
            <a:pPr algn="l">
              <a:lnSpc>
                <a:spcPct val="115000"/>
              </a:lnSpc>
            </a:pPr>
            <a:r>
              <a:rPr sz="800" b="0">
                <a:solidFill>
                  <a:srgbClr val="5E7286"/>
                </a:solidFill>
                <a:latin typeface="微软雅黑"/>
              </a:rPr>
              <a:t>    n22["SQL"]</a:t>
            </a:r>
          </a:p>
          <a:p>
            <a:pPr algn="l">
              <a:lnSpc>
                <a:spcPct val="115000"/>
              </a:lnSpc>
            </a:pPr>
            <a:r>
              <a:rPr sz="800" b="0">
                <a:solidFill>
                  <a:srgbClr val="5E7286"/>
                </a:solidFill>
                <a:latin typeface="微软雅黑"/>
              </a:rPr>
              <a:t>    n7["阅读"]</a:t>
            </a:r>
          </a:p>
          <a:p>
            <a:pPr algn="l">
              <a:lnSpc>
                <a:spcPct val="115000"/>
              </a:lnSpc>
            </a:pPr>
            <a:r>
              <a:rPr sz="800" b="0">
                <a:solidFill>
                  <a:srgbClr val="5E7286"/>
                </a:solidFill>
                <a:latin typeface="微软雅黑"/>
              </a:rPr>
              <a:t>    n1["写文章之前先想清楚读者"]</a:t>
            </a:r>
          </a:p>
          <a:p>
            <a:pPr algn="l">
              <a:lnSpc>
                <a:spcPct val="115000"/>
              </a:lnSpc>
            </a:pPr>
            <a:r>
              <a:rPr sz="800" b="0">
                <a:solidFill>
                  <a:srgbClr val="5E7286"/>
                </a:solidFill>
                <a:latin typeface="微软雅黑"/>
              </a:rPr>
              <a:t>    n2["读者"]</a:t>
            </a:r>
          </a:p>
          <a:p>
            <a:pPr algn="l">
              <a:lnSpc>
                <a:spcPct val="115000"/>
              </a:lnSpc>
            </a:pPr>
            <a:r>
              <a:rPr sz="800" b="0">
                <a:solidFill>
                  <a:srgbClr val="5E7286"/>
                </a:solidFill>
                <a:latin typeface="微软雅黑"/>
              </a:rPr>
              <a:t>    n3["结构"]</a:t>
            </a:r>
          </a:p>
          <a:p>
            <a:pPr algn="l">
              <a:lnSpc>
                <a:spcPct val="115000"/>
              </a:lnSpc>
            </a:pPr>
            <a:r>
              <a:rPr sz="800" b="0">
                <a:solidFill>
                  <a:srgbClr val="5E7286"/>
                </a:solidFill>
                <a:latin typeface="微软雅黑"/>
              </a:rPr>
              <a:t>    n4["结构"]</a:t>
            </a:r>
          </a:p>
          <a:p>
            <a:pPr algn="l">
              <a:lnSpc>
                <a:spcPct val="115000"/>
              </a:lnSpc>
            </a:pPr>
            <a:r>
              <a:rPr sz="800" b="0">
                <a:solidFill>
                  <a:srgbClr val="5E7286"/>
                </a:solidFill>
                <a:latin typeface="微软雅黑"/>
              </a:rPr>
              <a:t>    n5["笔记"]</a:t>
            </a:r>
          </a:p>
          <a:p>
            <a:pPr algn="l">
              <a:lnSpc>
                <a:spcPct val="115000"/>
              </a:lnSpc>
            </a:pPr>
            <a:r>
              <a:rPr sz="800" b="0">
                <a:solidFill>
                  <a:srgbClr val="5E7286"/>
                </a:solidFill>
                <a:latin typeface="微软雅黑"/>
              </a:rPr>
              <a:t>    n6["笔记要定期整理成知识结构"]</a:t>
            </a:r>
          </a:p>
          <a:p>
            <a:pPr algn="l">
              <a:lnSpc>
                <a:spcPct val="115000"/>
              </a:lnSpc>
            </a:pPr>
            <a:r>
              <a:rPr sz="800" b="0">
                <a:solidFill>
                  <a:srgbClr val="5E7286"/>
                </a:solidFill>
                <a:latin typeface="微软雅黑"/>
              </a:rPr>
              <a:t>    n31["彩虹排序法"]</a:t>
            </a:r>
          </a:p>
          <a:p>
            <a:pPr algn="l">
              <a:lnSpc>
                <a:spcPct val="115000"/>
              </a:lnSpc>
            </a:pPr>
            <a:r>
              <a:rPr sz="800" b="0">
                <a:solidFill>
                  <a:srgbClr val="5E7286"/>
                </a:solidFill>
                <a:latin typeface="微软雅黑"/>
              </a:rPr>
              <a:t>    n32["彩虹标签体系"]</a:t>
            </a:r>
          </a:p>
          <a:p>
            <a:pPr algn="l">
              <a:lnSpc>
                <a:spcPct val="115000"/>
              </a:lnSpc>
            </a:pPr>
            <a:r>
              <a:rPr sz="800" b="0">
                <a:solidFill>
                  <a:srgbClr val="5E7286"/>
                </a:solidFill>
                <a:latin typeface="微软雅黑"/>
              </a:rPr>
              <a:t>    n35["本次实验记录"]</a:t>
            </a:r>
          </a:p>
          <a:p>
            <a:pPr algn="l">
              <a:lnSpc>
                <a:spcPct val="115000"/>
              </a:lnSpc>
            </a:pPr>
            <a:r>
              <a:rPr sz="800" b="0">
                <a:solidFill>
                  <a:srgbClr val="5E7286"/>
                </a:solidFill>
                <a:latin typeface="微软雅黑"/>
              </a:rPr>
              <a:t>    n36["实验结论"]</a:t>
            </a:r>
          </a:p>
          <a:p>
            <a:pPr algn="l">
              <a:lnSpc>
                <a:spcPct val="115000"/>
              </a:lnSpc>
            </a:pPr>
            <a:r>
              <a:rPr sz="800" b="0">
                <a:solidFill>
                  <a:srgbClr val="5E7286"/>
                </a:solidFill>
                <a:latin typeface="微软雅黑"/>
              </a:rPr>
              <a:t>    n27["HTTP 的状态码"]</a:t>
            </a:r>
          </a:p>
          <a:p>
            <a:pPr algn="l">
              <a:lnSpc>
                <a:spcPct val="115000"/>
              </a:lnSpc>
            </a:pPr>
            <a:r>
              <a:rPr sz="800" b="0">
                <a:solidFill>
                  <a:srgbClr val="5E7286"/>
                </a:solidFill>
                <a:latin typeface="微软雅黑"/>
              </a:rPr>
              <a:t>  end</a:t>
            </a:r>
          </a:p>
          <a:p>
            <a:pPr algn="l">
              <a:lnSpc>
                <a:spcPct val="115000"/>
              </a:lnSpc>
            </a:pPr>
            <a:r>
              <a:rPr sz="800" b="0">
                <a:solidFill>
                  <a:srgbClr val="5E7286"/>
                </a:solidFill>
                <a:latin typeface="微软雅黑"/>
              </a:rPr>
              <a:t>  subgraph L4_____["L4 实现工具"]</a:t>
            </a:r>
          </a:p>
          <a:p>
            <a:pPr algn="l">
              <a:lnSpc>
                <a:spcPct val="115000"/>
              </a:lnSpc>
            </a:pPr>
            <a:r>
              <a:rPr sz="800" b="0">
                <a:solidFill>
                  <a:srgbClr val="5E7286"/>
                </a:solidFill>
                <a:latin typeface="微软雅黑"/>
              </a:rPr>
              <a:t>    direction LR</a:t>
            </a:r>
          </a:p>
          <a:p>
            <a:pPr algn="l">
              <a:lnSpc>
                <a:spcPct val="115000"/>
              </a:lnSpc>
            </a:pPr>
            <a:r>
              <a:rPr sz="800" b="0">
                <a:solidFill>
                  <a:srgbClr val="5E7286"/>
                </a:solidFill>
                <a:latin typeface="微软雅黑"/>
              </a:rPr>
              <a:t>    n8["JavaScript"]</a:t>
            </a:r>
          </a:p>
          <a:p>
            <a:pPr algn="l">
              <a:lnSpc>
                <a:spcPct val="115000"/>
              </a:lnSpc>
            </a:pPr>
            <a:r>
              <a:rPr sz="800" b="0">
                <a:solidFill>
                  <a:srgbClr val="5E7286"/>
                </a:solidFill>
                <a:latin typeface="微软雅黑"/>
              </a:rPr>
              <a:t>    n10["React"]</a:t>
            </a:r>
          </a:p>
          <a:p>
            <a:pPr algn="l">
              <a:lnSpc>
                <a:spcPct val="115000"/>
              </a:lnSpc>
            </a:pPr>
            <a:r>
              <a:rPr sz="800" b="0">
                <a:solidFill>
                  <a:srgbClr val="5E7286"/>
                </a:solidFill>
                <a:latin typeface="微软雅黑"/>
              </a:rPr>
              <a:t>    n12["Vue"]</a:t>
            </a:r>
          </a:p>
          <a:p>
            <a:pPr algn="l">
              <a:lnSpc>
                <a:spcPct val="115000"/>
              </a:lnSpc>
            </a:pPr>
            <a:r>
              <a:rPr sz="800" b="0">
                <a:solidFill>
                  <a:srgbClr val="5E7286"/>
                </a:solidFill>
                <a:latin typeface="微软雅黑"/>
              </a:rPr>
              <a:t>    n9["TypeScript"]</a:t>
            </a:r>
          </a:p>
          <a:p>
            <a:pPr algn="l">
              <a:lnSpc>
                <a:spcPct val="115000"/>
              </a:lnSpc>
            </a:pPr>
            <a:r>
              <a:rPr sz="800" b="0">
                <a:solidFill>
                  <a:srgbClr val="5E7286"/>
                </a:solidFill>
                <a:latin typeface="微软雅黑"/>
              </a:rPr>
              <a:t>    n14["Webpack"]</a:t>
            </a:r>
          </a:p>
          <a:p>
            <a:pPr algn="l">
              <a:lnSpc>
                <a:spcPct val="115000"/>
              </a:lnSpc>
            </a:pPr>
            <a:r>
              <a:rPr sz="800" b="0">
                <a:solidFill>
                  <a:srgbClr val="5E7286"/>
                </a:solidFill>
                <a:latin typeface="微软雅黑"/>
              </a:rPr>
              <a:t>    n15["Vue"]</a:t>
            </a:r>
          </a:p>
          <a:p>
            <a:pPr algn="l">
              <a:lnSpc>
                <a:spcPct val="115000"/>
              </a:lnSpc>
            </a:pPr>
            <a:r>
              <a:rPr sz="800" b="0">
                <a:solidFill>
                  <a:srgbClr val="5E7286"/>
                </a:solidFill>
                <a:latin typeface="微软雅黑"/>
              </a:rPr>
              <a:t>    n18["Node.js"]</a:t>
            </a:r>
          </a:p>
          <a:p>
            <a:pPr algn="l">
              <a:lnSpc>
                <a:spcPct val="115000"/>
              </a:lnSpc>
            </a:pPr>
            <a:r>
              <a:rPr sz="800" b="0">
                <a:solidFill>
                  <a:srgbClr val="5E7286"/>
                </a:solidFill>
                <a:latin typeface="微软雅黑"/>
              </a:rPr>
              <a:t>    n19["构建工具"]</a:t>
            </a:r>
          </a:p>
          <a:p>
            <a:pPr algn="l">
              <a:lnSpc>
                <a:spcPct val="115000"/>
              </a:lnSpc>
            </a:pPr>
            <a:r>
              <a:rPr sz="800" b="0">
                <a:solidFill>
                  <a:srgbClr val="5E7286"/>
                </a:solidFill>
                <a:latin typeface="微软雅黑"/>
              </a:rPr>
              <a:t>    n20["Vite"]</a:t>
            </a:r>
          </a:p>
          <a:p>
            <a:pPr algn="l">
              <a:lnSpc>
                <a:spcPct val="115000"/>
              </a:lnSpc>
            </a:pPr>
            <a:r>
              <a:rPr sz="800" b="0">
                <a:solidFill>
                  <a:srgbClr val="5E7286"/>
                </a:solidFill>
                <a:latin typeface="微软雅黑"/>
              </a:rPr>
              <a:t>    n21["MySQL"]</a:t>
            </a:r>
          </a:p>
          <a:p>
            <a:pPr algn="l">
              <a:lnSpc>
                <a:spcPct val="115000"/>
              </a:lnSpc>
            </a:pPr>
            <a:r>
              <a:rPr sz="800" b="0">
                <a:solidFill>
                  <a:srgbClr val="5E7286"/>
                </a:solidFill>
                <a:latin typeface="微软雅黑"/>
              </a:rPr>
              <a:t>    n23["Node.js"]</a:t>
            </a:r>
          </a:p>
          <a:p>
            <a:pPr algn="l">
              <a:lnSpc>
                <a:spcPct val="115000"/>
              </a:lnSpc>
            </a:pPr>
            <a:r>
              <a:rPr sz="800" b="0">
                <a:solidFill>
                  <a:srgbClr val="5E7286"/>
                </a:solidFill>
                <a:latin typeface="微软雅黑"/>
              </a:rPr>
              <a:t>    n28["MySQL"]</a:t>
            </a:r>
          </a:p>
          <a:p>
            <a:pPr algn="l">
              <a:lnSpc>
                <a:spcPct val="115000"/>
              </a:lnSpc>
            </a:pPr>
            <a:r>
              <a:rPr sz="800" b="0">
                <a:solidFill>
                  <a:srgbClr val="5E7286"/>
                </a:solidFill>
                <a:latin typeface="微软雅黑"/>
              </a:rPr>
              <a:t>    n16["TypeScript"]</a:t>
            </a:r>
          </a:p>
          <a:p>
            <a:pPr algn="l">
              <a:lnSpc>
                <a:spcPct val="115000"/>
              </a:lnSpc>
            </a:pPr>
            <a:r>
              <a:rPr sz="800" b="0">
                <a:solidFill>
                  <a:srgbClr val="5E7286"/>
                </a:solidFill>
                <a:latin typeface="微软雅黑"/>
              </a:rPr>
              <a:t>    n13["Vue 的学习曲线较平缓"]</a:t>
            </a:r>
          </a:p>
          <a:p>
            <a:pPr algn="l">
              <a:lnSpc>
                <a:spcPct val="115000"/>
              </a:lnSpc>
            </a:pPr>
            <a:r>
              <a:rPr sz="800" b="0">
                <a:solidFill>
                  <a:srgbClr val="5E7286"/>
                </a:solidFill>
                <a:latin typeface="微软雅黑"/>
              </a:rPr>
              <a:t>    n17["服务端"]</a:t>
            </a:r>
          </a:p>
          <a:p>
            <a:pPr algn="l">
              <a:lnSpc>
                <a:spcPct val="115000"/>
              </a:lnSpc>
            </a:pPr>
            <a:r>
              <a:rPr sz="800" b="0">
                <a:solidFill>
                  <a:srgbClr val="5E7286"/>
                </a:solidFill>
                <a:latin typeface="微软雅黑"/>
              </a:rPr>
              <a:t>  end</a:t>
            </a:r>
          </a:p>
          <a:p>
            <a:pPr algn="l">
              <a:lnSpc>
                <a:spcPct val="115000"/>
              </a:lnSpc>
            </a:pPr>
            <a:r>
              <a:rPr sz="800" b="0">
                <a:solidFill>
                  <a:srgbClr val="5E7286"/>
                </a:solidFill>
                <a:latin typeface="微软雅黑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800" b="0">
                <a:solidFill>
                  <a:srgbClr val="5E7286"/>
                </a:solidFill>
                <a:latin typeface="微软雅黑"/>
              </a:rPr>
              <a:t>  n9 --&gt;|前置知识| n6</a:t>
            </a:r>
          </a:p>
          <a:p>
            <a:pPr algn="l">
              <a:lnSpc>
                <a:spcPct val="115000"/>
              </a:lnSpc>
            </a:pPr>
            <a:r>
              <a:rPr sz="800" b="0">
                <a:solidFill>
                  <a:srgbClr val="5E7286"/>
                </a:solidFill>
                <a:latin typeface="微软雅黑"/>
              </a:rPr>
              <a:t>  n33 --&gt;|相关| n8</a:t>
            </a:r>
          </a:p>
          <a:p>
            <a:pPr algn="l">
              <a:lnSpc>
                <a:spcPct val="115000"/>
              </a:lnSpc>
            </a:pPr>
            <a:r>
              <a:rPr sz="800" b="0">
                <a:solidFill>
                  <a:srgbClr val="5E7286"/>
                </a:solidFill>
                <a:latin typeface="微软雅黑"/>
              </a:rPr>
              <a:t>  n26 --&gt;|相关| n9</a:t>
            </a:r>
          </a:p>
          <a:p>
            <a:pPr algn="l">
              <a:lnSpc>
                <a:spcPct val="115000"/>
              </a:lnSpc>
            </a:pPr>
            <a:r>
              <a:rPr sz="800" b="0">
                <a:solidFill>
                  <a:srgbClr val="5E7286"/>
                </a:solidFill>
                <a:latin typeface="微软雅黑"/>
              </a:rPr>
              <a:t>  n34 --&gt;|相关| n23</a:t>
            </a:r>
          </a:p>
          <a:p>
            <a:pPr algn="l">
              <a:lnSpc>
                <a:spcPct val="115000"/>
              </a:lnSpc>
            </a:pPr>
            <a:r>
              <a:rPr sz="800" b="0">
                <a:solidFill>
                  <a:srgbClr val="5E7286"/>
                </a:solidFill>
                <a:latin typeface="微软雅黑"/>
              </a:rPr>
              <a:t>  n25 --&gt;|实现关系| n9</a:t>
            </a:r>
          </a:p>
          <a:p>
            <a:pPr algn="l">
              <a:lnSpc>
                <a:spcPct val="115000"/>
              </a:lnSpc>
            </a:pPr>
            <a:r>
              <a:rPr sz="800" b="0">
                <a:solidFill>
                  <a:srgbClr val="5E7286"/>
                </a:solidFill>
                <a:latin typeface="微软雅黑"/>
              </a:rPr>
              <a:t>  n23 --&gt;|理论关联| n17</a:t>
            </a:r>
          </a:p>
          <a:p>
            <a:pPr algn="l">
              <a:lnSpc>
                <a:spcPct val="115000"/>
              </a:lnSpc>
            </a:pPr>
            <a:r>
              <a:rPr sz="800" b="0">
                <a:solidFill>
                  <a:srgbClr val="5E7286"/>
                </a:solidFill>
                <a:latin typeface="微软雅黑"/>
              </a:rPr>
              <a:t>  n8 --&gt;|前置知识| n1</a:t>
            </a:r>
          </a:p>
          <a:p>
            <a:pPr algn="l">
              <a:lnSpc>
                <a:spcPct val="115000"/>
              </a:lnSpc>
            </a:pPr>
            <a:r>
              <a:rPr sz="800" b="0">
                <a:solidFill>
                  <a:srgbClr val="5E7286"/>
                </a:solidFill>
                <a:latin typeface="微软雅黑"/>
              </a:rPr>
              <a:t>  n27 --&gt;|实现关系| n9</a:t>
            </a:r>
          </a:p>
          <a:p>
            <a:pPr algn="l">
              <a:lnSpc>
                <a:spcPct val="115000"/>
              </a:lnSpc>
            </a:pPr>
            <a:r>
              <a:rPr sz="800" b="0">
                <a:solidFill>
                  <a:srgbClr val="5E7286"/>
                </a:solidFill>
                <a:latin typeface="微软雅黑"/>
              </a:rPr>
              <a:t>  n17 --&gt;|前置知识| n11</a:t>
            </a:r>
          </a:p>
          <a:p>
            <a:pPr algn="l">
              <a:lnSpc>
                <a:spcPct val="115000"/>
              </a:lnSpc>
            </a:pPr>
            <a:r>
              <a:rPr sz="800" b="0">
                <a:solidFill>
                  <a:srgbClr val="5E7286"/>
                </a:solidFill>
                <a:latin typeface="微软雅黑"/>
              </a:rPr>
              <a:t>  n24 --&gt;|实现关系| n12</a:t>
            </a:r>
          </a:p>
          <a:p>
            <a:pPr algn="l">
              <a:lnSpc>
                <a:spcPct val="115000"/>
              </a:lnSpc>
            </a:pPr>
            <a:r>
              <a:rPr sz="800" b="0">
                <a:solidFill>
                  <a:srgbClr val="5E7286"/>
                </a:solidFill>
                <a:latin typeface="微软雅黑"/>
              </a:rPr>
              <a:t>  n28 --&gt;|理论关联| n14</a:t>
            </a:r>
          </a:p>
          <a:p>
            <a:pPr algn="l">
              <a:lnSpc>
                <a:spcPct val="115000"/>
              </a:lnSpc>
            </a:pPr>
            <a:r>
              <a:rPr sz="800" b="0">
                <a:solidFill>
                  <a:srgbClr val="5E7286"/>
                </a:solidFill>
                <a:latin typeface="微软雅黑"/>
              </a:rPr>
              <a:t>  n24 --&gt;|实现关系| n9</a:t>
            </a:r>
          </a:p>
          <a:p>
            <a:pPr algn="l">
              <a:lnSpc>
                <a:spcPct val="115000"/>
              </a:lnSpc>
            </a:pPr>
            <a:r>
              <a:rPr sz="800" b="0">
                <a:solidFill>
                  <a:srgbClr val="5E7286"/>
                </a:solidFill>
                <a:latin typeface="微软雅黑"/>
              </a:rPr>
              <a:t>  n25 --&gt;|实现关系| n12</a:t>
            </a:r>
          </a:p>
          <a:p>
            <a:pPr algn="l">
              <a:lnSpc>
                <a:spcPct val="115000"/>
              </a:lnSpc>
            </a:pPr>
            <a:r>
              <a:rPr sz="800" b="0">
                <a:solidFill>
                  <a:srgbClr val="5E7286"/>
                </a:solidFill>
                <a:latin typeface="微软雅黑"/>
              </a:rPr>
              <a:t>  n29 --&gt;|实现关系| n20</a:t>
            </a:r>
          </a:p>
          <a:p>
            <a:pPr algn="l">
              <a:lnSpc>
                <a:spcPct val="115000"/>
              </a:lnSpc>
            </a:pPr>
            <a:r>
              <a:rPr sz="800" b="0">
                <a:solidFill>
                  <a:srgbClr val="5E7286"/>
                </a:solidFill>
                <a:latin typeface="微软雅黑"/>
              </a:rPr>
              <a:t>  n24 --&gt;|实现关系| n15</a:t>
            </a:r>
          </a:p>
          <a:p>
            <a:pPr algn="l">
              <a:lnSpc>
                <a:spcPct val="115000"/>
              </a:lnSpc>
            </a:pPr>
            <a:r>
              <a:rPr sz="800" b="0">
                <a:solidFill>
                  <a:srgbClr val="5E7286"/>
                </a:solidFill>
                <a:latin typeface="微软雅黑"/>
              </a:rPr>
              <a:t>  n23 --&gt;|理论关联| n13</a:t>
            </a:r>
          </a:p>
          <a:p>
            <a:pPr algn="l">
              <a:lnSpc>
                <a:spcPct val="115000"/>
              </a:lnSpc>
            </a:pPr>
            <a:r>
              <a:rPr sz="800" b="0">
                <a:solidFill>
                  <a:srgbClr val="5E7286"/>
                </a:solidFill>
                <a:latin typeface="微软雅黑"/>
              </a:rPr>
              <a:t>  n8 --&gt;|前置知识| n4</a:t>
            </a:r>
          </a:p>
          <a:p>
            <a:pPr algn="l">
              <a:lnSpc>
                <a:spcPct val="115000"/>
              </a:lnSpc>
            </a:pPr>
            <a:r>
              <a:rPr sz="800" b="0">
                <a:solidFill>
                  <a:srgbClr val="5E7286"/>
                </a:solidFill>
                <a:latin typeface="微软雅黑"/>
              </a:rPr>
              <a:t>  n33 --&gt;|相关| n9</a:t>
            </a:r>
          </a:p>
          <a:p>
            <a:pPr algn="l">
              <a:lnSpc>
                <a:spcPct val="115000"/>
              </a:lnSpc>
            </a:pPr>
            <a:r>
              <a:rPr sz="800" b="0">
                <a:solidFill>
                  <a:srgbClr val="5E7286"/>
                </a:solidFill>
                <a:latin typeface="微软雅黑"/>
              </a:rPr>
              <a:t>  n34 --&gt;|相关| n8</a:t>
            </a:r>
          </a:p>
          <a:p>
            <a:pPr algn="l">
              <a:lnSpc>
                <a:spcPct val="115000"/>
              </a:lnSpc>
            </a:pPr>
            <a:r>
              <a:rPr sz="800" b="0">
                <a:solidFill>
                  <a:srgbClr val="5E7286"/>
                </a:solidFill>
                <a:latin typeface="微软雅黑"/>
              </a:rPr>
              <a:t>  n25 --&gt;|实现关系| n15</a:t>
            </a:r>
          </a:p>
          <a:p>
            <a:pPr algn="l">
              <a:lnSpc>
                <a:spcPct val="115000"/>
              </a:lnSpc>
            </a:pPr>
            <a:r>
              <a:rPr sz="800" b="0">
                <a:solidFill>
                  <a:srgbClr val="5E7286"/>
                </a:solidFill>
                <a:latin typeface="微软雅黑"/>
              </a:rPr>
              <a:t>  n25 --&gt;|实现关系| n10</a:t>
            </a:r>
          </a:p>
          <a:p>
            <a:pPr algn="l">
              <a:lnSpc>
                <a:spcPct val="115000"/>
              </a:lnSpc>
            </a:pPr>
            <a:r>
              <a:rPr sz="800" b="0">
                <a:solidFill>
                  <a:srgbClr val="5E7286"/>
                </a:solidFill>
                <a:latin typeface="微软雅黑"/>
              </a:rPr>
              <a:t>  n31 --&gt;|实现关系| n23</a:t>
            </a:r>
          </a:p>
          <a:p>
            <a:pPr algn="l">
              <a:lnSpc>
                <a:spcPct val="115000"/>
              </a:lnSpc>
            </a:pPr>
            <a:r>
              <a:rPr sz="800" b="0">
                <a:solidFill>
                  <a:srgbClr val="5E7286"/>
                </a:solidFill>
                <a:latin typeface="微软雅黑"/>
              </a:rPr>
              <a:t>  n35 --&gt;|实现关系| n23</a:t>
            </a:r>
          </a:p>
          <a:p>
            <a:pPr algn="l">
              <a:lnSpc>
                <a:spcPct val="115000"/>
              </a:lnSpc>
            </a:pPr>
            <a:r>
              <a:rPr sz="800" b="0">
                <a:solidFill>
                  <a:srgbClr val="5E7286"/>
                </a:solidFill>
                <a:latin typeface="微软雅黑"/>
              </a:rPr>
              <a:t>  n18 --&gt;|理论关联| n10</a:t>
            </a:r>
          </a:p>
          <a:p>
            <a:pPr algn="l">
              <a:lnSpc>
                <a:spcPct val="115000"/>
              </a:lnSpc>
            </a:pPr>
            <a:r>
              <a:rPr sz="800" b="0">
                <a:solidFill>
                  <a:srgbClr val="5E7286"/>
                </a:solidFill>
                <a:latin typeface="微软雅黑"/>
              </a:rPr>
              <a:t>  n9 --&gt;|前置知识| n7</a:t>
            </a:r>
          </a:p>
          <a:p>
            <a:pPr algn="l">
              <a:lnSpc>
                <a:spcPct val="115000"/>
              </a:lnSpc>
            </a:pPr>
            <a:r>
              <a:rPr sz="800" b="0">
                <a:solidFill>
                  <a:srgbClr val="5E7286"/>
                </a:solidFill>
                <a:latin typeface="微软雅黑"/>
              </a:rPr>
              <a:t>  n33 --&gt;|相关| n23</a:t>
            </a:r>
          </a:p>
          <a:p>
            <a:pPr algn="l">
              <a:lnSpc>
                <a:spcPct val="115000"/>
              </a:lnSpc>
            </a:pPr>
            <a:r>
              <a:rPr sz="800" b="0">
                <a:solidFill>
                  <a:srgbClr val="5E7286"/>
                </a:solidFill>
                <a:latin typeface="微软雅黑"/>
              </a:rPr>
              <a:t>  n17 --&gt;|理论关联| n14</a:t>
            </a:r>
          </a:p>
          <a:p>
            <a:pPr algn="l">
              <a:lnSpc>
                <a:spcPct val="115000"/>
              </a:lnSpc>
            </a:pPr>
            <a:r>
              <a:rPr sz="800" b="0">
                <a:solidFill>
                  <a:srgbClr val="5E7286"/>
                </a:solidFill>
                <a:latin typeface="微软雅黑"/>
              </a:rPr>
              <a:t>  n8 --&gt;|前置知识| n6</a:t>
            </a:r>
          </a:p>
          <a:p>
            <a:pPr algn="l">
              <a:lnSpc>
                <a:spcPct val="115000"/>
              </a:lnSpc>
            </a:pPr>
            <a:r>
              <a:rPr sz="800" b="0">
                <a:solidFill>
                  <a:srgbClr val="5E7286"/>
                </a:solidFill>
                <a:latin typeface="微软雅黑"/>
              </a:rPr>
              <a:t>  n28 --&gt;|理论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